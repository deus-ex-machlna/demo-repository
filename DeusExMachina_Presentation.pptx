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731752" cy="4572"/>
          </a:xfrm>
          <a:prstGeom prst="rect">
            <a:avLst/>
          </a:prstGeom>
          <a:solidFill>
            <a:srgbClr val="2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737360"/>
            <a:ext cx="11731752" cy="4572"/>
          </a:xfrm>
          <a:prstGeom prst="rect">
            <a:avLst/>
          </a:prstGeom>
          <a:solidFill>
            <a:srgbClr val="2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606039"/>
            <a:ext cx="11731752" cy="4572"/>
          </a:xfrm>
          <a:prstGeom prst="rect">
            <a:avLst/>
          </a:prstGeom>
          <a:solidFill>
            <a:srgbClr val="2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3474720"/>
            <a:ext cx="11731752" cy="4572"/>
          </a:xfrm>
          <a:prstGeom prst="rect">
            <a:avLst/>
          </a:prstGeom>
          <a:solidFill>
            <a:srgbClr val="2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343400"/>
            <a:ext cx="11731752" cy="4572"/>
          </a:xfrm>
          <a:prstGeom prst="rect">
            <a:avLst/>
          </a:prstGeom>
          <a:solidFill>
            <a:srgbClr val="2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5212079"/>
            <a:ext cx="11731752" cy="4572"/>
          </a:xfrm>
          <a:prstGeom prst="rect">
            <a:avLst/>
          </a:prstGeom>
          <a:solidFill>
            <a:srgbClr val="2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6080759"/>
            <a:ext cx="11731752" cy="4572"/>
          </a:xfrm>
          <a:prstGeom prst="rect">
            <a:avLst/>
          </a:prstGeom>
          <a:solidFill>
            <a:srgbClr val="2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73E1D"/>
                </a:solidFill>
                <a:latin typeface="Malgun Gothic"/>
              </a:rPr>
              <a:t>LIKELION × DEUS EX MACHINA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0972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Malgun Gothic"/>
              </a:rPr>
              <a:t>DeusExMachina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E8D5B7"/>
                </a:solidFill>
                <a:latin typeface="Malgun Gothic"/>
              </a:rPr>
              <a:t>AI 기반 인터랙티브 내러티브 게임 엔진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20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7A8FA6"/>
                </a:solidFill>
                <a:latin typeface="Malgun Gothic"/>
              </a:rPr>
              <a:t>LLM이 살아 숨쉬는 NPC를 만든다 — Generative Agents × 심리 공포 × 탈출 어드벤처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297680"/>
            <a:ext cx="5486400" cy="36576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A8FA6"/>
                </a:solidFill>
                <a:latin typeface="Malgun Gothic"/>
              </a:rPr>
              <a:t>2025  ·  Python / FastAPI / OpenAI GPT-4  ·  Coraline Scenario v3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274552" y="5943600"/>
            <a:ext cx="9144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0" y="6035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1">
                <a:solidFill>
                  <a:srgbClr val="FFD700"/>
                </a:solidFill>
                <a:latin typeface="Malgun Gothic"/>
              </a:rPr>
              <a:t>인형의 집에서 탈출하라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73E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8B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0" b="1" i="0">
                <a:solidFill>
                  <a:srgbClr val="FFFFFF"/>
                </a:solidFill>
                <a:latin typeface="Malgun Gothic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3749039" y="457200"/>
            <a:ext cx="36576" cy="59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0" y="2286000"/>
            <a:ext cx="7589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Malgun Gothic"/>
              </a:rPr>
              <a:t>프로젝트 배경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347472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1">
                <a:solidFill>
                  <a:srgbClr val="FFDDCC"/>
                </a:solidFill>
                <a:latin typeface="Malgun Gothic"/>
              </a:rPr>
              <a:t>왜 이걸 만들었나?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Malgun Gothic"/>
              </a:rPr>
              <a:t>프로젝트 배경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73E1D"/>
                </a:solidFill>
                <a:latin typeface="Malgun Gothic"/>
              </a:rPr>
              <a:t>왜 이걸 만들었나?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566160" cy="411480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566160" cy="54864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  <a:latin typeface="Malgun Gothic"/>
              </a:rPr>
              <a:t>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algun Gothic"/>
              </a:rPr>
              <a:t>기존 텍스트 RPG의 한계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43200"/>
            <a:ext cx="3108960" cy="18288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8036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AC7"/>
                </a:solidFill>
                <a:latin typeface="Malgun Gothic"/>
              </a:rPr>
              <a:t>정해진 분기, 고정된 대사
플레이어는 '읽는' 것에 그침
몰입감 부재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61688" y="1371600"/>
            <a:ext cx="3566160" cy="411480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61688" y="1371600"/>
            <a:ext cx="3566160" cy="54864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5544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  <a:latin typeface="Malgun Gothic"/>
              </a:rPr>
              <a:t>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148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algun Gothic"/>
              </a:rPr>
              <a:t>LLM의 폭발적 성장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44568" y="2743200"/>
            <a:ext cx="3108960" cy="18288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288036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AC7"/>
                </a:solidFill>
                <a:latin typeface="Malgun Gothic"/>
              </a:rPr>
              <a:t>GPT-4급 모델의 등장
자연어 이해·생성 능력 혁신
실시간 대화 NPC 가능성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66175" y="1371600"/>
            <a:ext cx="3566160" cy="411480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66175" y="1371600"/>
            <a:ext cx="3566160" cy="54864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49055" y="15544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  <a:latin typeface="Malgun Gothic"/>
              </a:rPr>
              <a:t>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5" y="2148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algun Gothic"/>
              </a:rPr>
              <a:t>Generative Agents 논문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49055" y="2743200"/>
            <a:ext cx="3108960" cy="18288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49055" y="288036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AC7"/>
                </a:solidFill>
                <a:latin typeface="Malgun Gothic"/>
              </a:rPr>
              <a:t>Park et al. 2023
기억·계획·반성하는 AI 에이전트
실제 사람처럼 행동하는 NPC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669280"/>
            <a:ext cx="11274552" cy="822960"/>
          </a:xfrm>
          <a:prstGeom prst="rect">
            <a:avLst/>
          </a:prstGeom>
          <a:solidFill>
            <a:srgbClr val="1C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5669280"/>
            <a:ext cx="54864" cy="82296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7790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D700"/>
                </a:solidFill>
                <a:latin typeface="Malgun Gothic"/>
              </a:rPr>
              <a:t>→  "LLM을 활용해 진짜 살아있는 NPC가 존재하는 내러티브 게임 엔진을 만들자!"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73E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8B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0" b="1" i="0">
                <a:solidFill>
                  <a:srgbClr val="FFFFFF"/>
                </a:solidFill>
                <a:latin typeface="Malgun Gothic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3749039" y="457200"/>
            <a:ext cx="36576" cy="59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0" y="2286000"/>
            <a:ext cx="7589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Malgun Gothic"/>
              </a:rPr>
              <a:t>핵심 컨셉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347472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1">
                <a:solidFill>
                  <a:srgbClr val="FFDDCC"/>
                </a:solidFill>
                <a:latin typeface="Malgun Gothic"/>
              </a:rPr>
              <a:t>"코렐라인" — 인형의 집 탈출 어드벤처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Malgun Gothic"/>
              </a:rPr>
              <a:t>핵심 컨셉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73E1D"/>
                </a:solidFill>
                <a:latin typeface="Malgun Gothic"/>
              </a:rPr>
              <a:t>"인형의 집"에서 탈출하라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303520" cy="521208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303520" cy="54864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algun Gothic"/>
              </a:rPr>
              <a:t>🎮  게임 소개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54864" cy="45720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0BAC7"/>
                </a:solidFill>
                <a:latin typeface="Malgun Gothic"/>
              </a:rPr>
              <a:t>플레이어는 불가사의한 인형의 집에 갇힘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852928"/>
            <a:ext cx="54864" cy="45720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80720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0BAC7"/>
                </a:solidFill>
                <a:latin typeface="Malgun Gothic"/>
              </a:rPr>
              <a:t>버튼 눈을 가진 인형 가족들이 당신을 감시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648456"/>
            <a:ext cx="54864" cy="45720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602736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0BAC7"/>
                </a:solidFill>
                <a:latin typeface="Malgun Gothic"/>
              </a:rPr>
              <a:t>50턴 안에 탈출하거나 인형이 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443983"/>
            <a:ext cx="54864" cy="45720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398264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0BAC7"/>
                </a:solidFill>
                <a:latin typeface="Malgun Gothic"/>
              </a:rPr>
              <a:t>NPC와 대화·행동으로 단서 수집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239512"/>
            <a:ext cx="54864" cy="45720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19379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0BAC7"/>
                </a:solidFill>
                <a:latin typeface="Malgun Gothic"/>
              </a:rPr>
              <a:t>5가지 엔딩 중 하나로 귀결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280160"/>
            <a:ext cx="5577840" cy="521208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280160"/>
            <a:ext cx="5577840" cy="54864"/>
          </a:xfrm>
          <a:prstGeom prst="rect">
            <a:avLst/>
          </a:prstGeom>
          <a:solidFill>
            <a:srgbClr val="2E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algun Gothic"/>
              </a:rPr>
              <a:t>🧠  AI 핵심 메커니즘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2057400"/>
            <a:ext cx="54864" cy="457200"/>
          </a:xfrm>
          <a:prstGeom prst="rect">
            <a:avLst/>
          </a:prstGeom>
          <a:solidFill>
            <a:srgbClr val="2E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CC"/>
                </a:solidFill>
                <a:latin typeface="Malgun Gothic"/>
              </a:rPr>
              <a:t>기억 (Memory)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AC7"/>
                </a:solidFill>
                <a:latin typeface="Malgun Gothic"/>
              </a:rPr>
              <a:t>모든 대화·사건을 NPC가 기억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2852928"/>
            <a:ext cx="54864" cy="457200"/>
          </a:xfrm>
          <a:prstGeom prst="rect">
            <a:avLst/>
          </a:prstGeom>
          <a:solidFill>
            <a:srgbClr val="2E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28072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CC"/>
                </a:solidFill>
                <a:latin typeface="Malgun Gothic"/>
              </a:rPr>
              <a:t>반성 (Reflection)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28072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AC7"/>
                </a:solidFill>
                <a:latin typeface="Malgun Gothic"/>
              </a:rPr>
              <a:t>하루 끝 NPC가 스스로 반성·학습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3648456"/>
            <a:ext cx="54864" cy="457200"/>
          </a:xfrm>
          <a:prstGeom prst="rect">
            <a:avLst/>
          </a:prstGeom>
          <a:solidFill>
            <a:srgbClr val="2E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60273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CC"/>
                </a:solidFill>
                <a:latin typeface="Malgun Gothic"/>
              </a:rPr>
              <a:t>계획 (Planning)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60273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AC7"/>
                </a:solidFill>
                <a:latin typeface="Malgun Gothic"/>
              </a:rPr>
              <a:t>다음날 행동을 미리 계획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4443983"/>
            <a:ext cx="54864" cy="457200"/>
          </a:xfrm>
          <a:prstGeom prst="rect">
            <a:avLst/>
          </a:prstGeom>
          <a:solidFill>
            <a:srgbClr val="2E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439826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CC"/>
                </a:solidFill>
                <a:latin typeface="Malgun Gothic"/>
              </a:rPr>
              <a:t>자율 대화 (Dialogue)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439826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AC7"/>
                </a:solidFill>
                <a:latin typeface="Malgun Gothic"/>
              </a:rPr>
              <a:t>NPC들끼리 밤에 자체 대화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5239512"/>
            <a:ext cx="54864" cy="457200"/>
          </a:xfrm>
          <a:prstGeom prst="rect">
            <a:avLst/>
          </a:prstGeom>
          <a:solidFill>
            <a:srgbClr val="2E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519379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CC"/>
                </a:solidFill>
                <a:latin typeface="Malgun Gothic"/>
              </a:rPr>
              <a:t>도구 호출 (Tools)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519379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AC7"/>
                </a:solidFill>
                <a:latin typeface="Malgun Gothic"/>
              </a:rPr>
              <a:t>LLM이 interact/action/use 선택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73E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8B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0" b="1" i="0">
                <a:solidFill>
                  <a:srgbClr val="FFFFFF"/>
                </a:solidFill>
                <a:latin typeface="Malgun Gothic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3749039" y="457200"/>
            <a:ext cx="36576" cy="59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0" y="2286000"/>
            <a:ext cx="7589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Malgun Gothic"/>
              </a:rPr>
              <a:t>기술 스택 &amp;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347472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1">
                <a:solidFill>
                  <a:srgbClr val="FFDDCC"/>
                </a:solidFill>
                <a:latin typeface="Malgun Gothic"/>
              </a:rPr>
              <a:t>AI 내러티브 엔진의 구조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Malgun Gothic"/>
              </a:rPr>
              <a:t>기술 스택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ECCCC"/>
                </a:solidFill>
                <a:latin typeface="Malgun Gothic"/>
              </a:rPr>
              <a:t>What we built with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486400" cy="233172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486400" cy="54864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8988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73E1D"/>
                </a:solidFill>
                <a:latin typeface="Malgun Gothic"/>
              </a:rPr>
              <a:t>🔥  AI / LLM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47088"/>
            <a:ext cx="5120640" cy="18288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659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AC7"/>
                </a:solidFill>
                <a:latin typeface="Malgun Gothic"/>
              </a:rPr>
              <a:t>▸  OpenAI GPT-4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317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AC7"/>
                </a:solidFill>
                <a:latin typeface="Malgun Gothic"/>
              </a:rPr>
              <a:t>▸  Generative Agents Framework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974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AC7"/>
                </a:solidFill>
                <a:latin typeface="Malgun Gothic"/>
              </a:rPr>
              <a:t>▸  Tool Calling (Function Calling)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632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AC7"/>
                </a:solidFill>
                <a:latin typeface="Malgun Gothic"/>
              </a:rPr>
              <a:t>▸  Memory Streams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280160"/>
            <a:ext cx="5486400" cy="233172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280160"/>
            <a:ext cx="5486400" cy="54864"/>
          </a:xfrm>
          <a:prstGeom prst="rect">
            <a:avLst/>
          </a:prstGeom>
          <a:solidFill>
            <a:srgbClr val="2E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38988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CCCC"/>
                </a:solidFill>
                <a:latin typeface="Malgun Gothic"/>
              </a:rPr>
              <a:t>⚡  Backend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847088"/>
            <a:ext cx="5120640" cy="18288"/>
          </a:xfrm>
          <a:prstGeom prst="rect">
            <a:avLst/>
          </a:prstGeom>
          <a:solidFill>
            <a:srgbClr val="2E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9659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AC7"/>
                </a:solidFill>
                <a:latin typeface="Malgun Gothic"/>
              </a:rPr>
              <a:t>▸  FastAPI 0.100+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3317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AC7"/>
                </a:solidFill>
                <a:latin typeface="Malgun Gothic"/>
              </a:rPr>
              <a:t>▸  SQLAlchemy 2.0 (ORM)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6974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AC7"/>
                </a:solidFill>
                <a:latin typeface="Malgun Gothic"/>
              </a:rPr>
              <a:t>▸  Alembic (DB Migration)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0632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AC7"/>
                </a:solidFill>
                <a:latin typeface="Malgun Gothic"/>
              </a:rPr>
              <a:t>▸  Uvicorn (ASGI)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840479"/>
            <a:ext cx="5486400" cy="233172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840479"/>
            <a:ext cx="54864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950207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700"/>
                </a:solidFill>
                <a:latin typeface="Malgun Gothic"/>
              </a:rPr>
              <a:t>🗄️  Data &amp; Infra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407407"/>
            <a:ext cx="5120640" cy="1828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52627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AC7"/>
                </a:solidFill>
                <a:latin typeface="Malgun Gothic"/>
              </a:rPr>
              <a:t>▸  PostgreSQL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8920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AC7"/>
                </a:solidFill>
                <a:latin typeface="Malgun Gothic"/>
              </a:rPr>
              <a:t>▸  Redis (Cache/State)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25779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AC7"/>
                </a:solidFill>
                <a:latin typeface="Malgun Gothic"/>
              </a:rPr>
              <a:t>▸  Docker Compose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62355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AC7"/>
                </a:solidFill>
                <a:latin typeface="Malgun Gothic"/>
              </a:rPr>
              <a:t>▸  PyYAML (Scenario DSL)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3840479"/>
            <a:ext cx="5486400" cy="233172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3840479"/>
            <a:ext cx="5486400" cy="5486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3950207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9B59B6"/>
                </a:solidFill>
                <a:latin typeface="Malgun Gothic"/>
              </a:rPr>
              <a:t>🔧  Dev Tools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4407407"/>
            <a:ext cx="5120640" cy="18288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452627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AC7"/>
                </a:solidFill>
                <a:latin typeface="Malgun Gothic"/>
              </a:rPr>
              <a:t>▸  Pydantic v2 (Schema)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48920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AC7"/>
                </a:solidFill>
                <a:latin typeface="Malgun Gothic"/>
              </a:rPr>
              <a:t>▸  python-dotenv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525779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AC7"/>
                </a:solidFill>
                <a:latin typeface="Malgun Gothic"/>
              </a:rPr>
              <a:t>▸  Ngrok (Tunneling)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562355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AC7"/>
                </a:solidFill>
                <a:latin typeface="Malgun Gothic"/>
              </a:rPr>
              <a:t>▸  Jupyter Notebook (Testing)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Malgun Gothic"/>
              </a:rPr>
              <a:t>시스템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ECCCC"/>
                </a:solidFill>
                <a:latin typeface="Malgun Gothic"/>
              </a:rPr>
              <a:t>8-Layer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394960" cy="114300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73152" cy="1143000"/>
          </a:xfrm>
          <a:prstGeom prst="rect">
            <a:avLst/>
          </a:prstGeom>
          <a:solidFill>
            <a:srgbClr val="2E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CCCC"/>
                </a:solidFill>
                <a:latin typeface="Malgun Gothic"/>
              </a:rPr>
              <a:t>API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C7"/>
                </a:solidFill>
                <a:latin typeface="Malgun Gothic"/>
              </a:rPr>
              <a:t>FastAPI REST Endpoints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2423160"/>
            <a:ext cx="36576" cy="182880"/>
          </a:xfrm>
          <a:prstGeom prst="rect">
            <a:avLst/>
          </a:prstGeom>
          <a:solidFill>
            <a:srgbClr val="2E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280160"/>
            <a:ext cx="5394960" cy="114300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280160"/>
            <a:ext cx="73152" cy="1143000"/>
          </a:xfrm>
          <a:prstGeom prst="rect">
            <a:avLst/>
          </a:prstGeom>
          <a:solidFill>
            <a:srgbClr val="2E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371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CCCC"/>
                </a:solidFill>
                <a:latin typeface="Malgun Gothic"/>
              </a:rPr>
              <a:t>Service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8288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C7"/>
                </a:solidFill>
                <a:latin typeface="Malgun Gothic"/>
              </a:rPr>
              <a:t>GameService / ScenarioLoader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2423160"/>
            <a:ext cx="36576" cy="182880"/>
          </a:xfrm>
          <a:prstGeom prst="rect">
            <a:avLst/>
          </a:prstGeom>
          <a:solidFill>
            <a:srgbClr val="2E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606039"/>
            <a:ext cx="5394960" cy="114300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606039"/>
            <a:ext cx="73152" cy="1143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697479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D700"/>
                </a:solidFill>
                <a:latin typeface="Malgun Gothic"/>
              </a:rPr>
              <a:t>Controller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154679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C7"/>
                </a:solidFill>
                <a:latin typeface="Malgun Gothic"/>
              </a:rPr>
              <a:t>DayController / NightController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0" y="3749039"/>
            <a:ext cx="36576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2606039"/>
            <a:ext cx="5394960" cy="114300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2606039"/>
            <a:ext cx="73152" cy="1143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2697479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D700"/>
                </a:solidFill>
                <a:latin typeface="Malgun Gothic"/>
              </a:rPr>
              <a:t>Tools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154679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C7"/>
                </a:solidFill>
                <a:latin typeface="Malgun Gothic"/>
              </a:rPr>
              <a:t>interact / action / use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0" y="3749039"/>
            <a:ext cx="36576" cy="182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931920"/>
            <a:ext cx="5394960" cy="114300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931920"/>
            <a:ext cx="73152" cy="114300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023359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73E1D"/>
                </a:solidFill>
                <a:latin typeface="Malgun Gothic"/>
              </a:rPr>
              <a:t>LLM 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480559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C7"/>
                </a:solidFill>
                <a:latin typeface="Malgun Gothic"/>
              </a:rPr>
              <a:t>Prompt Builder → GPT-4 → Parser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08960" y="5074920"/>
            <a:ext cx="36576" cy="18288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3931920"/>
            <a:ext cx="5394960" cy="114300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3931920"/>
            <a:ext cx="73152" cy="114300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4023359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73E1D"/>
                </a:solidFill>
                <a:latin typeface="Malgun Gothic"/>
              </a:rPr>
              <a:t>Rule Engine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4480559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C7"/>
                </a:solidFill>
                <a:latin typeface="Malgun Gothic"/>
              </a:rPr>
              <a:t>MemoryRules / LockManager / ItemAcquirer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61120" y="5074920"/>
            <a:ext cx="36576" cy="18288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5257800"/>
            <a:ext cx="5394960" cy="114300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5257800"/>
            <a:ext cx="73152" cy="11430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3492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9B59B6"/>
                </a:solidFill>
                <a:latin typeface="Malgun Gothic"/>
              </a:rPr>
              <a:t>State Manager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8064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C7"/>
                </a:solidFill>
                <a:latin typeface="Malgun Gothic"/>
              </a:rPr>
              <a:t>WorldStateManager / StatusEffectManager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5257800"/>
            <a:ext cx="5394960" cy="114300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09360" y="5257800"/>
            <a:ext cx="73152" cy="1143000"/>
          </a:xfrm>
          <a:prstGeom prst="rect">
            <a:avLst/>
          </a:prstGeom>
          <a:solidFill>
            <a:srgbClr val="3DB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37960" y="53492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DBF7A"/>
                </a:solidFill>
                <a:latin typeface="Malgun Gothic"/>
              </a:rPr>
              <a:t>Narrative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58064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C7"/>
                </a:solidFill>
                <a:latin typeface="Malgun Gothic"/>
              </a:rPr>
              <a:t>NarrativeLayer → Final Prose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73E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8B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0" b="1" i="0">
                <a:solidFill>
                  <a:srgbClr val="FFFFFF"/>
                </a:solidFill>
                <a:latin typeface="Malgun Gothic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3749039" y="457200"/>
            <a:ext cx="36576" cy="59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0" y="2286000"/>
            <a:ext cx="7589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Malgun Gothic"/>
              </a:rPr>
              <a:t>핵심 기능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347472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1">
                <a:solidFill>
                  <a:srgbClr val="FFDDCC"/>
                </a:solidFill>
                <a:latin typeface="Malgun Gothic"/>
              </a:rPr>
              <a:t>Generative Agents &amp; 파이프라인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8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Malgun Gothic"/>
              </a:rPr>
              <a:t>Generative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2ECCCC"/>
                </a:solidFill>
                <a:latin typeface="Malgun Gothic"/>
              </a:rPr>
              <a:t>NPC가 진짜 인간처럼 기억하고, 반성하고, 계획한다  (Park et al. 2023 inspired)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697480" cy="4389120"/>
          </a:xfrm>
          <a:prstGeom prst="rect">
            <a:avLst/>
          </a:prstGeom>
          <a:solidFill>
            <a:srgbClr val="0F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697480" cy="54864"/>
          </a:xfrm>
          <a:prstGeom prst="rect">
            <a:avLst/>
          </a:prstGeom>
          <a:solidFill>
            <a:srgbClr val="2E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Malgun Gothic"/>
              </a:rPr>
              <a:t>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031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CCCC"/>
                </a:solidFill>
                <a:latin typeface="Malgun Gothic"/>
              </a:rPr>
              <a:t>Memory Stream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606040"/>
            <a:ext cx="2423160" cy="18288"/>
          </a:xfrm>
          <a:prstGeom prst="rect">
            <a:avLst/>
          </a:prstGeom>
          <a:solidFill>
            <a:srgbClr val="2E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743200"/>
            <a:ext cx="2423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AC7"/>
                </a:solidFill>
                <a:latin typeface="Malgun Gothic"/>
              </a:rPr>
              <a:t>모든 대화와 사건이
메모리 스트림에 저장
시간·중요도·유사도 기반 검색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2004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A8FA6"/>
                </a:solidFill>
                <a:latin typeface="Malgun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1371600"/>
            <a:ext cx="2697480" cy="4389120"/>
          </a:xfrm>
          <a:prstGeom prst="rect">
            <a:avLst/>
          </a:prstGeom>
          <a:solidFill>
            <a:srgbClr val="0F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371600"/>
            <a:ext cx="2697480" cy="5486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15087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Malgun Gothic"/>
              </a:rPr>
              <a:t>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1031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9B59B6"/>
                </a:solidFill>
                <a:latin typeface="Malgun Gothic"/>
              </a:rPr>
              <a:t>Reflection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20440" y="2606040"/>
            <a:ext cx="2423160" cy="18288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743200"/>
            <a:ext cx="2423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AC7"/>
                </a:solidFill>
                <a:latin typeface="Malgun Gothic"/>
              </a:rPr>
              <a:t>하루 끝에 NPC가 스스로
중요한 기억을 반성·통합
고차원 인사이트 생성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2004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A8FA6"/>
                </a:solidFill>
                <a:latin typeface="Malgun Gothic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371600"/>
            <a:ext cx="2697480" cy="4389120"/>
          </a:xfrm>
          <a:prstGeom prst="rect">
            <a:avLst/>
          </a:prstGeom>
          <a:solidFill>
            <a:srgbClr val="0F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1371600"/>
            <a:ext cx="269748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5087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Malgun Gothic"/>
              </a:rPr>
              <a:t>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1031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D700"/>
                </a:solidFill>
                <a:latin typeface="Malgun Gothic"/>
              </a:rPr>
              <a:t>Planning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2606040"/>
            <a:ext cx="2423160" cy="1828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2743200"/>
            <a:ext cx="2423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AC7"/>
                </a:solidFill>
                <a:latin typeface="Malgun Gothic"/>
              </a:rPr>
              <a:t>반성을 바탕으로
다음날 행동 계획 수립
장기 목표 + 단기 행동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32004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A8FA6"/>
                </a:solidFill>
                <a:latin typeface="Malgun Gothic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1371600"/>
            <a:ext cx="2697480" cy="4389120"/>
          </a:xfrm>
          <a:prstGeom prst="rect">
            <a:avLst/>
          </a:prstGeom>
          <a:solidFill>
            <a:srgbClr val="0F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35440" y="1371600"/>
            <a:ext cx="2697480" cy="54864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0" y="15087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Malgun Gothic"/>
              </a:rPr>
              <a:t>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21031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73E1D"/>
                </a:solidFill>
                <a:latin typeface="Malgun Gothic"/>
              </a:rPr>
              <a:t>Group Dialogue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72600" y="2606040"/>
            <a:ext cx="2423160" cy="18288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72600" y="2743200"/>
            <a:ext cx="2423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AC7"/>
                </a:solidFill>
                <a:latin typeface="Malgun Gothic"/>
              </a:rPr>
              <a:t>밤마다 NPC들이 자체 대화
6번의 자율 발화
관계·의심도 자동 변화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943600"/>
            <a:ext cx="11274552" cy="594360"/>
          </a:xfrm>
          <a:prstGeom prst="rect">
            <a:avLst/>
          </a:prstGeom>
          <a:solidFill>
            <a:srgbClr val="0A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5943600"/>
            <a:ext cx="54864" cy="594360"/>
          </a:xfrm>
          <a:prstGeom prst="rect">
            <a:avLst/>
          </a:prstGeom>
          <a:solidFill>
            <a:srgbClr val="2E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989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0BAC7"/>
                </a:solidFill>
                <a:latin typeface="Malgun Gothic"/>
              </a:rPr>
              <a:t>각 NPC (Eleanor, Arthur, Lucas, Margaret, Baron)마다 독립적인 메모리 스트림 운영 → 완전히 다른 인격과 반응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Malgun Gothic"/>
              </a:rPr>
              <a:t>Day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D700"/>
                </a:solidFill>
                <a:latin typeface="Malgun Gothic"/>
              </a:rPr>
              <a:t>플레이어 턴 처리 흐름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657600"/>
            <a:ext cx="11274552" cy="36576"/>
          </a:xfrm>
          <a:prstGeom prst="rect">
            <a:avLst/>
          </a:prstGeom>
          <a:solidFill>
            <a:srgbClr val="7A8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3291840"/>
            <a:ext cx="640080" cy="640080"/>
          </a:xfrm>
          <a:prstGeom prst="rect">
            <a:avLst/>
          </a:prstGeom>
          <a:solidFill>
            <a:srgbClr val="2E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331012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9090F"/>
                </a:solidFill>
                <a:latin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3886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CCCC"/>
                </a:solidFill>
                <a:latin typeface="Malgun Gothic"/>
              </a:rPr>
              <a:t>User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43434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AC7"/>
                </a:solidFill>
                <a:latin typeface="Malgun Gothic"/>
              </a:rPr>
              <a:t>자연어 입력 접수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29968" y="3291840"/>
            <a:ext cx="640080" cy="640080"/>
          </a:xfrm>
          <a:prstGeom prst="rect">
            <a:avLst/>
          </a:prstGeom>
          <a:solidFill>
            <a:srgbClr val="2E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29968" y="331012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9090F"/>
                </a:solidFill>
                <a:latin typeface="Malgun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38528" y="3886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CCCC"/>
                </a:solidFill>
                <a:latin typeface="Malgun Gothic"/>
              </a:rPr>
              <a:t>Tool Calling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38528" y="43434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AC7"/>
                </a:solidFill>
                <a:latin typeface="Malgun Gothic"/>
              </a:rPr>
              <a:t>LLM이 도구 선택
interact / action / use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48456" y="3291840"/>
            <a:ext cx="640080" cy="6400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48456" y="331012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9090F"/>
                </a:solidFill>
                <a:latin typeface="Malgun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7016" y="3886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D700"/>
                </a:solidFill>
                <a:latin typeface="Malgun Gothic"/>
              </a:rPr>
              <a:t>LLM Execution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7016" y="43434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AC7"/>
                </a:solidFill>
                <a:latin typeface="Malgun Gothic"/>
              </a:rPr>
              <a:t>선택된 도구로
GPT-4 프롬프트 실행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66944" y="3291840"/>
            <a:ext cx="640080" cy="6400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66944" y="331012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9090F"/>
                </a:solidFill>
                <a:latin typeface="Malgun Gothic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75504" y="3886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D700"/>
                </a:solidFill>
                <a:latin typeface="Malgun Gothic"/>
              </a:rPr>
              <a:t>Delta Parse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75504" y="43434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AC7"/>
                </a:solidFill>
                <a:latin typeface="Malgun Gothic"/>
              </a:rPr>
              <a:t>JSON 응답에서
StateDelta 추출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85432" y="3291840"/>
            <a:ext cx="640080" cy="64008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85432" y="331012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9090F"/>
                </a:solidFill>
                <a:latin typeface="Malgun Gothic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93992" y="3886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73E1D"/>
                </a:solidFill>
                <a:latin typeface="Malgun Gothic"/>
              </a:rPr>
              <a:t>Rule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93992" y="43434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AC7"/>
                </a:solidFill>
                <a:latin typeface="Malgun Gothic"/>
              </a:rPr>
              <a:t>memory_rules.yaml
조건부 효과 자동 적용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03919" y="3291840"/>
            <a:ext cx="640080" cy="64008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19" y="331012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9090F"/>
                </a:solidFill>
                <a:latin typeface="Malgun Gothic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886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73E1D"/>
                </a:solidFill>
                <a:latin typeface="Malgun Gothic"/>
              </a:rPr>
              <a:t>State 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3434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AC7"/>
                </a:solidFill>
                <a:latin typeface="Malgun Gothic"/>
              </a:rPr>
              <a:t>WorldStateManager
게임 상태 업데이트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122408" y="3291840"/>
            <a:ext cx="640080" cy="640080"/>
          </a:xfrm>
          <a:prstGeom prst="rect">
            <a:avLst/>
          </a:prstGeom>
          <a:solidFill>
            <a:srgbClr val="3DB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22408" y="331012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9090F"/>
                </a:solidFill>
                <a:latin typeface="Malgun Gothic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30968" y="3886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DBF7A"/>
                </a:solidFill>
                <a:latin typeface="Malgun Gothic"/>
              </a:rPr>
              <a:t>Narrative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30968" y="43434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AC7"/>
                </a:solidFill>
                <a:latin typeface="Malgun Gothic"/>
              </a:rPr>
              <a:t>NarrativeLayer
산문 형태 최종 출력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1234440"/>
            <a:ext cx="5303520" cy="210312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1234440"/>
            <a:ext cx="530352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135331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700"/>
                </a:solidFill>
                <a:latin typeface="Malgun Gothic"/>
              </a:rPr>
              <a:t>🎯  Intent Classification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1874519"/>
            <a:ext cx="54864" cy="201168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1874519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C7"/>
                </a:solidFill>
                <a:latin typeface="Malgun Gothic"/>
              </a:rPr>
              <a:t>investigate  →  의심 행동 → 서스펜션 +5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2148839"/>
            <a:ext cx="54864" cy="201168"/>
          </a:xfrm>
          <a:prstGeom prst="rect">
            <a:avLst/>
          </a:prstGeom>
          <a:solidFill>
            <a:srgbClr val="3DB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2148839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C7"/>
                </a:solidFill>
                <a:latin typeface="Malgun Gothic"/>
              </a:rPr>
              <a:t>obey  →  순응 → NPC 호감 +, 인간성 -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2423160"/>
            <a:ext cx="54864" cy="201168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2423160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C7"/>
                </a:solidFill>
                <a:latin typeface="Malgun Gothic"/>
              </a:rPr>
              <a:t>rebel  →  반항 → NPC 호감 -, 의심 +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2697479"/>
            <a:ext cx="54864" cy="201168"/>
          </a:xfrm>
          <a:prstGeom prst="rect">
            <a:avLst/>
          </a:prstGeom>
          <a:solidFill>
            <a:srgbClr val="2E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2697479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C7"/>
                </a:solidFill>
                <a:latin typeface="Malgun Gothic"/>
              </a:rPr>
              <a:t>reveal  →  진실 탐구 → NPC humanity +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" y="2971800"/>
            <a:ext cx="54864" cy="201168"/>
          </a:xfrm>
          <a:prstGeom prst="rect">
            <a:avLst/>
          </a:prstGeom>
          <a:solidFill>
            <a:srgbClr val="7A8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2971800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C7"/>
                </a:solidFill>
                <a:latin typeface="Malgun Gothic"/>
              </a:rPr>
              <a:t>neutral  →  일상 대화 → 변화 없음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0" y="1234440"/>
            <a:ext cx="5303520" cy="210312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00800" y="1234440"/>
            <a:ext cx="5303520" cy="54864"/>
          </a:xfrm>
          <a:prstGeom prst="rect">
            <a:avLst/>
          </a:prstGeom>
          <a:solidFill>
            <a:srgbClr val="2E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29400" y="135331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CCCC"/>
                </a:solidFill>
                <a:latin typeface="Malgun Gothic"/>
              </a:rPr>
              <a:t>🔧  Tool System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0" y="1874519"/>
            <a:ext cx="54864" cy="365760"/>
          </a:xfrm>
          <a:prstGeom prst="rect">
            <a:avLst/>
          </a:prstGeom>
          <a:solidFill>
            <a:srgbClr val="2E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66560" y="1874519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CC"/>
                </a:solidFill>
                <a:latin typeface="Malgun Gothic"/>
              </a:rPr>
              <a:t>interact(target, type)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60" y="2167128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7"/>
                </a:solidFill>
                <a:latin typeface="Malgun Gothic"/>
              </a:rPr>
              <a:t>NPC 대화 또는 물체 조사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83680" y="2368296"/>
            <a:ext cx="54864" cy="365760"/>
          </a:xfrm>
          <a:prstGeom prst="rect">
            <a:avLst/>
          </a:prstGeom>
          <a:solidFill>
            <a:srgbClr val="2E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66560" y="2368296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CC"/>
                </a:solidFill>
                <a:latin typeface="Malgun Gothic"/>
              </a:rPr>
              <a:t>action(action)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0" y="2660904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7"/>
                </a:solidFill>
                <a:latin typeface="Malgun Gothic"/>
              </a:rPr>
              <a:t>비상호 행동 수행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83680" y="2862072"/>
            <a:ext cx="54864" cy="365760"/>
          </a:xfrm>
          <a:prstGeom prst="rect">
            <a:avLst/>
          </a:prstGeom>
          <a:solidFill>
            <a:srgbClr val="2E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766560" y="286207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CC"/>
                </a:solidFill>
                <a:latin typeface="Malgun Gothic"/>
              </a:rPr>
              <a:t>use(item, action, target)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6560" y="315468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7"/>
                </a:solidFill>
                <a:latin typeface="Malgun Gothic"/>
              </a:rPr>
              <a:t>아이템 사용 (acquire/usage)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60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Malgun Gothic"/>
              </a:rPr>
              <a:t>Night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B59B6"/>
                </a:solidFill>
                <a:latin typeface="Malgun Gothic"/>
              </a:rPr>
              <a:t>NPC 자율 행동 — 밤은 AI가 지배한다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2743200" cy="4480560"/>
          </a:xfrm>
          <a:prstGeom prst="rect">
            <a:avLst/>
          </a:prstGeom>
          <a:solidFill>
            <a:srgbClr val="0C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2743200" cy="5486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4475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B59B6"/>
                </a:solidFill>
                <a:latin typeface="Malgun Gothic"/>
              </a:rP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10512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Malgun Gothic"/>
              </a:rPr>
              <a:t>Reflection
반성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578608"/>
            <a:ext cx="2468880" cy="18288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74320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AC7"/>
                </a:solidFill>
                <a:latin typeface="Malgun Gothic"/>
              </a:rPr>
              <a:t>각 NPC가 오늘 하루를 돌아봄
중요한 기억·감정 정리
인사이트 추출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45536" y="347472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7A8FA6"/>
                </a:solidFill>
                <a:latin typeface="Malgun Gothic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325880"/>
            <a:ext cx="2743200" cy="4480560"/>
          </a:xfrm>
          <a:prstGeom prst="rect">
            <a:avLst/>
          </a:prstGeom>
          <a:solidFill>
            <a:srgbClr val="0C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1325880"/>
            <a:ext cx="27432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44475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  <a:latin typeface="Malgun Gothic"/>
              </a:rPr>
              <a:t>Phase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1810512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Malgun Gothic"/>
              </a:rPr>
              <a:t>Planning
계획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2578608"/>
            <a:ext cx="2468880" cy="1828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274320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AC7"/>
                </a:solidFill>
                <a:latin typeface="Malgun Gothic"/>
              </a:rPr>
              <a:t>반성 내용 기반
내일 행동 계획 수립
동적 감정 포맷 적용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17336" y="347472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7A8FA6"/>
                </a:solidFill>
                <a:latin typeface="Malgun Gothic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325880"/>
            <a:ext cx="2743200" cy="4480560"/>
          </a:xfrm>
          <a:prstGeom prst="rect">
            <a:avLst/>
          </a:prstGeom>
          <a:solidFill>
            <a:srgbClr val="0C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1325880"/>
            <a:ext cx="2743200" cy="54864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144475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73E1D"/>
                </a:solidFill>
                <a:latin typeface="Malgun Gothic"/>
              </a:rPr>
              <a:t>Phase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1810512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Malgun Gothic"/>
              </a:rPr>
              <a:t>Group Dialogue
집단 대화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2578608"/>
            <a:ext cx="2468880" cy="18288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274320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AC7"/>
                </a:solidFill>
                <a:latin typeface="Malgun Gothic"/>
              </a:rPr>
              <a:t>NPC 2명이 무작위 대화
6번 발화 (라운드로빈)
플레이어 관련 음모 가능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9136" y="347472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7A8FA6"/>
                </a:solidFill>
                <a:latin typeface="Malgun Gothic"/>
              </a:rP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81160" y="1325880"/>
            <a:ext cx="2743200" cy="4480560"/>
          </a:xfrm>
          <a:prstGeom prst="rect">
            <a:avLst/>
          </a:prstGeom>
          <a:solidFill>
            <a:srgbClr val="0C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81160" y="1325880"/>
            <a:ext cx="2743200" cy="54864"/>
          </a:xfrm>
          <a:prstGeom prst="rect">
            <a:avLst/>
          </a:prstGeom>
          <a:solidFill>
            <a:srgbClr val="2E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0" y="144475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CC"/>
                </a:solidFill>
                <a:latin typeface="Malgun Gothic"/>
              </a:rPr>
              <a:t>Phase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1810512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Malgun Gothic"/>
              </a:rPr>
              <a:t>Impact Analysis
영향 분석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418320" y="2578608"/>
            <a:ext cx="2468880" cy="18288"/>
          </a:xfrm>
          <a:prstGeom prst="rect">
            <a:avLst/>
          </a:prstGeom>
          <a:solidFill>
            <a:srgbClr val="2E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18320" y="274320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AC7"/>
                </a:solidFill>
                <a:latin typeface="Malgun Gothic"/>
              </a:rPr>
              <a:t>대화에서 스탯 변화 추출
parse_stat_changes_text()
night_delta 누적 적용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989320"/>
            <a:ext cx="11457432" cy="594360"/>
          </a:xfrm>
          <a:prstGeom prst="rect">
            <a:avLst/>
          </a:prstGeom>
          <a:solidFill>
            <a:srgbClr val="100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" y="5989320"/>
            <a:ext cx="54864" cy="59436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6035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0BAC7"/>
                </a:solidFill>
                <a:latin typeface="Malgun Gothic"/>
              </a:rPr>
              <a:t>플레이어가 잠든 사이 NPC들은 스스로 생각하고, 계획하고, 서로 음모를 꾸민다 — 매 밤 게임이 진화한다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Malgun Gothic"/>
              </a:rPr>
              <a:t>동적 스탯 &amp; 규칙 엔진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DBF7A"/>
                </a:solidFill>
                <a:latin typeface="Malgun Gothic"/>
              </a:rPr>
              <a:t>Scenario YAML만 수정하면 코드 변경 없이 새 게임 시스템 구축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303520" cy="521208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303520" cy="54864"/>
          </a:xfrm>
          <a:prstGeom prst="rect">
            <a:avLst/>
          </a:prstGeom>
          <a:solidFill>
            <a:srgbClr val="7A8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73E1D"/>
                </a:solidFill>
                <a:latin typeface="Malgun Gothic"/>
              </a:rPr>
              <a:t>🔴  Before (v2) — 하드코딩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4846320" cy="1920240"/>
          </a:xfrm>
          <a:prstGeom prst="rect">
            <a:avLst/>
          </a:prstGeom>
          <a:solidFill>
            <a:srgbClr val="1A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6596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8866"/>
                </a:solidFill>
                <a:latin typeface="Courier New"/>
              </a:rPr>
              <a:t># 코드에 고정된 스탯
npc.trust = 50
npc.suspicion = 0
npc.fear = 30
npc.humanity = 100
# 스탯 추가 시 코드 전체 수정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31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73E1D"/>
                </a:solidFill>
                <a:latin typeface="Malgun Gothic"/>
              </a:rPr>
              <a:t>문제점: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297680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C7"/>
                </a:solidFill>
                <a:latin typeface="Malgun Gothic"/>
              </a:rPr>
              <a:t>  ✗  새 시나리오마다 코드 변경 필수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617720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C7"/>
                </a:solidFill>
                <a:latin typeface="Malgun Gothic"/>
              </a:rPr>
              <a:t>  ✗  스탯 추가·제거 불가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937760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C7"/>
                </a:solidFill>
                <a:latin typeface="Malgun Gothic"/>
              </a:rPr>
              <a:t>  ✗  범용성 zero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280160"/>
            <a:ext cx="5486400" cy="521208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5486400" cy="54864"/>
          </a:xfrm>
          <a:prstGeom prst="rect">
            <a:avLst/>
          </a:prstGeom>
          <a:solidFill>
            <a:srgbClr val="3DB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DBF7A"/>
                </a:solidFill>
                <a:latin typeface="Malgun Gothic"/>
              </a:rPr>
              <a:t>🟢  After (v3) — YAML 동적 정의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920240"/>
            <a:ext cx="5029200" cy="1920240"/>
          </a:xfrm>
          <a:prstGeom prst="rect">
            <a:avLst/>
          </a:prstGeom>
          <a:solidFill>
            <a:srgbClr val="08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9659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FF88"/>
                </a:solidFill>
                <a:latin typeface="Courier New"/>
              </a:rPr>
              <a:t># npcs.yaml
initial_stats:
  affection: 50
  fear: 80
  humanity: 0
# 어떤 스탯도 추가 가능!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DBF7A"/>
                </a:solidFill>
                <a:latin typeface="Malgun Gothic"/>
              </a:rPr>
              <a:t>장점: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297680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C7"/>
                </a:solidFill>
                <a:latin typeface="Malgun Gothic"/>
              </a:rPr>
              <a:t>  ✓  시나리오 제작자가 임의 스탯 정의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617720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C7"/>
                </a:solidFill>
                <a:latin typeface="Malgun Gothic"/>
              </a:rPr>
              <a:t>  ✓  코드 변경 없이 새 게임 시스템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937760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C7"/>
                </a:solidFill>
                <a:latin typeface="Malgun Gothic"/>
              </a:rPr>
              <a:t>  ✓  완전한 범용 엔진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Malgun Gothic"/>
              </a:rPr>
              <a:t>규칙 엔진 (Memory Rules)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D700"/>
                </a:solidFill>
                <a:latin typeface="Malgun Gothic"/>
              </a:rPr>
              <a:t>플레이어 행동 의도에 따라 자동으로 게임 상태 변화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486400" cy="521208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4864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D700"/>
                </a:solidFill>
                <a:latin typeface="Malgun Gothic"/>
              </a:rPr>
              <a:t>📄  memory_rules.yaml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5120640" cy="4434840"/>
          </a:xfrm>
          <a:prstGeom prst="rect">
            <a:avLst/>
          </a:prstGeom>
          <a:solidFill>
            <a:srgbClr val="10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4937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CCFF"/>
                </a:solidFill>
                <a:latin typeface="Courier New"/>
              </a:rPr>
              <a:t>- rule_id: investigate_increase_suspicion
  when: "intent == 'investigate'"
  effects:
    - type: var_add
      key: vars.suspicion_level
      value: 5
    - type: var_add
      key: vars.humanity
      value: 2
- rule_id: obey_gain_affection
  when: "intent == 'obey'"
  effects:
    - type: npc_stat_add
      target: stepmother
      key: affection
      value: 10
    - type: var_add
      key: vars.humanity
      value: -5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280160"/>
            <a:ext cx="5394960" cy="521208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280160"/>
            <a:ext cx="539496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4173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D700"/>
                </a:solidFill>
                <a:latin typeface="Malgun Gothic"/>
              </a:rPr>
              <a:t>⚙️  Effect Types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1920240"/>
            <a:ext cx="54864" cy="411480"/>
          </a:xfrm>
          <a:prstGeom prst="rect">
            <a:avLst/>
          </a:prstGeom>
          <a:solidFill>
            <a:srgbClr val="2E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920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CC"/>
                </a:solidFill>
                <a:latin typeface="Courier New"/>
              </a:rPr>
              <a:t>var_add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17627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7"/>
                </a:solidFill>
                <a:latin typeface="Malgun Gothic"/>
              </a:rPr>
              <a:t>world vars 수치 증감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2487168"/>
            <a:ext cx="54864" cy="411480"/>
          </a:xfrm>
          <a:prstGeom prst="rect">
            <a:avLst/>
          </a:prstGeom>
          <a:solidFill>
            <a:srgbClr val="2E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4871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CC"/>
                </a:solidFill>
                <a:latin typeface="Courier New"/>
              </a:rPr>
              <a:t>var_set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74320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7"/>
                </a:solidFill>
                <a:latin typeface="Malgun Gothic"/>
              </a:rPr>
              <a:t>world vars 직접 설정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3054096"/>
            <a:ext cx="54864" cy="41148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305409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73E1D"/>
                </a:solidFill>
                <a:latin typeface="Courier New"/>
              </a:rPr>
              <a:t>npc_stat_add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310128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7"/>
                </a:solidFill>
                <a:latin typeface="Malgun Gothic"/>
              </a:rPr>
              <a:t>NPC 개별 스탯 증감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3621024"/>
            <a:ext cx="54864" cy="41148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362102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73E1D"/>
                </a:solidFill>
                <a:latin typeface="Courier New"/>
              </a:rPr>
              <a:t>npc_status_set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877056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7"/>
                </a:solidFill>
                <a:latin typeface="Malgun Gothic"/>
              </a:rPr>
              <a:t>NPC 상태 변경 (sleeping...)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4187952"/>
            <a:ext cx="54864" cy="4114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41879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  <a:latin typeface="Courier New"/>
              </a:rPr>
              <a:t>flag_set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4443983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7"/>
                </a:solidFill>
                <a:latin typeface="Malgun Gothic"/>
              </a:rPr>
              <a:t>게임 플래그 토글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4754880"/>
            <a:ext cx="54864" cy="411480"/>
          </a:xfrm>
          <a:prstGeom prst="rect">
            <a:avLst/>
          </a:prstGeom>
          <a:solidFill>
            <a:srgbClr val="3DB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4754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DBF7A"/>
                </a:solidFill>
                <a:latin typeface="Courier New"/>
              </a:rPr>
              <a:t>add_item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501091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7"/>
                </a:solidFill>
                <a:latin typeface="Malgun Gothic"/>
              </a:rPr>
              <a:t>인벤토리에 아이템 추가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5321808"/>
            <a:ext cx="54864" cy="411480"/>
          </a:xfrm>
          <a:prstGeom prst="rect">
            <a:avLst/>
          </a:prstGeom>
          <a:solidFill>
            <a:srgbClr val="3DB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53218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DBF7A"/>
                </a:solidFill>
                <a:latin typeface="Courier New"/>
              </a:rPr>
              <a:t>remove_item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557784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7"/>
                </a:solidFill>
                <a:latin typeface="Malgun Gothic"/>
              </a:rPr>
              <a:t>인벤토리에서 제거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5888736"/>
            <a:ext cx="54864" cy="4114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58887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B59B6"/>
                </a:solidFill>
                <a:latin typeface="Courier New"/>
              </a:rPr>
              <a:t>memory_add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6144768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7"/>
                </a:solidFill>
                <a:latin typeface="Malgun Gothic"/>
              </a:rPr>
              <a:t>NPC 메모리에 사건 삽입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73E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8B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0" b="1" i="0">
                <a:solidFill>
                  <a:srgbClr val="FFFFFF"/>
                </a:solidFill>
                <a:latin typeface="Malgun Gothic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3749039" y="457200"/>
            <a:ext cx="36576" cy="59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0" y="2286000"/>
            <a:ext cx="7589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Malgun Gothic"/>
              </a:rPr>
              <a:t>시나리오 상세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347472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1">
                <a:solidFill>
                  <a:srgbClr val="FFDDCC"/>
                </a:solidFill>
                <a:latin typeface="Malgun Gothic"/>
              </a:rPr>
              <a:t>코렐라인 — 인형이 된다는 것의 공포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Malgun Gothic"/>
              </a:rPr>
              <a:t>시나리오: 코렐라인 — 등장인물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73E1D"/>
                </a:solidFill>
                <a:latin typeface="Malgun Gothic"/>
              </a:rPr>
              <a:t>"인형의 집" 5인의 섬뜩한 가족들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2103120" cy="521208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2103120" cy="54864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41732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Malgun Gothic"/>
              </a:rPr>
              <a:t>👁️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73E1D"/>
                </a:solidFill>
                <a:latin typeface="Malgun Gothic"/>
              </a:rPr>
              <a:t>새엄마
Eleanor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743200"/>
            <a:ext cx="1920240" cy="18288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880360"/>
            <a:ext cx="187451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C7"/>
                </a:solidFill>
                <a:latin typeface="Malgun Gothic"/>
              </a:rPr>
              <a:t>역할: 주 적대자
인형 가족 완성을 목표
3단계 행동 변화
(유혹→시험→처벌)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79" y="1280160"/>
            <a:ext cx="2103120" cy="521208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97479" y="1280160"/>
            <a:ext cx="2103120" cy="54864"/>
          </a:xfrm>
          <a:prstGeom prst="rect">
            <a:avLst/>
          </a:prstGeom>
          <a:solidFill>
            <a:srgbClr val="6C8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79" y="141732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Malgun Gothic"/>
              </a:rPr>
              <a:t>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0574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6C8EAD"/>
                </a:solidFill>
                <a:latin typeface="Malgun Gothic"/>
              </a:rPr>
              <a:t>새아빠
Arthur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88920" y="2743200"/>
            <a:ext cx="1920240" cy="18288"/>
          </a:xfrm>
          <a:prstGeom prst="rect">
            <a:avLst/>
          </a:prstGeom>
          <a:solidFill>
            <a:srgbClr val="6C8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34639" y="2880360"/>
            <a:ext cx="187451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C7"/>
                </a:solidFill>
                <a:latin typeface="Malgun Gothic"/>
              </a:rPr>
              <a:t>역할: 물리적 집행자
침묵·순종 가치관
단서 힌트 제공
(신문·과거 물건)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1280160"/>
            <a:ext cx="2103120" cy="521208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1280160"/>
            <a:ext cx="2103120" cy="54864"/>
          </a:xfrm>
          <a:prstGeom prst="rect">
            <a:avLst/>
          </a:prstGeom>
          <a:solidFill>
            <a:srgbClr val="2E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5000" y="141732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Malgun Gothic"/>
              </a:rPr>
              <a:t>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20574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ECCCC"/>
                </a:solidFill>
                <a:latin typeface="Malgun Gothic"/>
              </a:rPr>
              <a:t>남동생
Lucas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20640" y="2743200"/>
            <a:ext cx="1920240" cy="18288"/>
          </a:xfrm>
          <a:prstGeom prst="rect">
            <a:avLst/>
          </a:prstGeom>
          <a:solidFill>
            <a:srgbClr val="2E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2880360"/>
            <a:ext cx="187451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C7"/>
                </a:solidFill>
                <a:latin typeface="Malgun Gothic"/>
              </a:rPr>
              <a:t>역할: 반인반인형
인간성·인형성 갈등
동반자 혹은 희생자
탈출 정보 보유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60919" y="1280160"/>
            <a:ext cx="2103120" cy="521208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60919" y="1280160"/>
            <a:ext cx="210312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19" y="141732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Malgun Gothic"/>
              </a:rPr>
              <a:t>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59" y="20574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D700"/>
                </a:solidFill>
                <a:latin typeface="Malgun Gothic"/>
              </a:rPr>
              <a:t>할머니
Margaret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52359" y="2743200"/>
            <a:ext cx="1920240" cy="1828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79" y="2880360"/>
            <a:ext cx="187451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C7"/>
                </a:solidFill>
                <a:latin typeface="Malgun Gothic"/>
              </a:rPr>
              <a:t>역할: 옛 지배자
집 비밀 보유
불꽃 약점 정보
억압된 동맹군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92640" y="1280160"/>
            <a:ext cx="2103120" cy="521208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92640" y="1280160"/>
            <a:ext cx="2103120" cy="54864"/>
          </a:xfrm>
          <a:prstGeom prst="rect">
            <a:avLst/>
          </a:prstGeom>
          <a:solidFill>
            <a:srgbClr val="3DB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78440" y="141732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Malgun Gothic"/>
              </a:rPr>
              <a:t>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20574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3DBF7A"/>
                </a:solidFill>
                <a:latin typeface="Malgun Gothic"/>
              </a:rPr>
              <a:t>바론
(개)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784080" y="2743200"/>
            <a:ext cx="1920240" cy="18288"/>
          </a:xfrm>
          <a:prstGeom prst="rect">
            <a:avLst/>
          </a:prstGeom>
          <a:solidFill>
            <a:srgbClr val="3DB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29800" y="2880360"/>
            <a:ext cx="187451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C7"/>
                </a:solidFill>
                <a:latin typeface="Malgun Gothic"/>
              </a:rPr>
              <a:t>역할: 유일한 순수
진짜 인간 감지
보호 힌트 제공
아이템: 간식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Malgun Gothic"/>
              </a:rPr>
              <a:t>핵심 게임 메커니즘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73E1D"/>
                </a:solidFill>
                <a:latin typeface="Malgun Gothic"/>
              </a:rPr>
              <a:t>두 개의 핵심 카운터가 운명을 결정한다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5303520" cy="512064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303520" cy="54864"/>
          </a:xfrm>
          <a:prstGeom prst="rect">
            <a:avLst/>
          </a:prstGeom>
          <a:solidFill>
            <a:srgbClr val="2E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ECCCC"/>
                </a:solidFill>
                <a:latin typeface="Malgun Gothic"/>
              </a:rPr>
              <a:t>인간성 (Humanity)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3852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AC7"/>
                </a:solidFill>
                <a:latin typeface="Malgun Gothic"/>
              </a:rPr>
              <a:t>0 ~ 100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377440"/>
            <a:ext cx="4754880" cy="411480"/>
          </a:xfrm>
          <a:prstGeom prst="rect">
            <a:avLst/>
          </a:prstGeom>
          <a:solidFill>
            <a:srgbClr val="2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377440"/>
            <a:ext cx="2743200" cy="411480"/>
          </a:xfrm>
          <a:prstGeom prst="rect">
            <a:avLst/>
          </a:prstGeom>
          <a:solidFill>
            <a:srgbClr val="2E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40487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CC"/>
                </a:solidFill>
                <a:latin typeface="Malgun Gothic"/>
              </a:rPr>
              <a:t>60%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944368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AC7"/>
                </a:solidFill>
                <a:latin typeface="Malgun Gothic"/>
              </a:rPr>
              <a:t>100 = 완전한 인간
0 = 인형이 됨 → 게임 오버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749039"/>
            <a:ext cx="54864" cy="32004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67328"/>
            <a:ext cx="4389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C7"/>
                </a:solidFill>
                <a:latin typeface="Malgun Gothic"/>
              </a:rPr>
              <a:t>순응·복종  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206240"/>
            <a:ext cx="54864" cy="320040"/>
          </a:xfrm>
          <a:prstGeom prst="rect">
            <a:avLst/>
          </a:prstGeom>
          <a:solidFill>
            <a:srgbClr val="3DB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24528"/>
            <a:ext cx="4389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C7"/>
                </a:solidFill>
                <a:latin typeface="Malgun Gothic"/>
              </a:rPr>
              <a:t>허브 냄새 맡기  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663440"/>
            <a:ext cx="54864" cy="32004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681728"/>
            <a:ext cx="4389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C7"/>
                </a:solidFill>
                <a:latin typeface="Malgun Gothic"/>
              </a:rPr>
              <a:t>인형 물건 접촉  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5120640"/>
            <a:ext cx="54864" cy="320040"/>
          </a:xfrm>
          <a:prstGeom prst="rect">
            <a:avLst/>
          </a:prstGeom>
          <a:solidFill>
            <a:srgbClr val="3DB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138928"/>
            <a:ext cx="4389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C7"/>
                </a:solidFill>
                <a:latin typeface="Malgun Gothic"/>
              </a:rPr>
              <a:t>가족 사진 발견  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325880"/>
            <a:ext cx="5394960" cy="512064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1325880"/>
            <a:ext cx="5394960" cy="54864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1481328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73E1D"/>
                </a:solidFill>
                <a:latin typeface="Malgun Gothic"/>
              </a:rPr>
              <a:t>의심도 (Suspicion)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193852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AC7"/>
                </a:solidFill>
                <a:latin typeface="Malgun Gothic"/>
              </a:rPr>
              <a:t>0 ~ 100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37960" y="2377440"/>
            <a:ext cx="4754880" cy="411480"/>
          </a:xfrm>
          <a:prstGeom prst="rect">
            <a:avLst/>
          </a:prstGeom>
          <a:solidFill>
            <a:srgbClr val="2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37960" y="2377440"/>
            <a:ext cx="1463040" cy="41148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240487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3E1D"/>
                </a:solidFill>
                <a:latin typeface="Malgun Gothic"/>
              </a:rPr>
              <a:t>30%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2944368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AC7"/>
                </a:solidFill>
                <a:latin typeface="Malgun Gothic"/>
              </a:rPr>
              <a:t>0 = 완전한 신뢰
100 = 붙잡힘 → 게임 오버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37960" y="3749039"/>
            <a:ext cx="54864" cy="32004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3767328"/>
            <a:ext cx="4389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C7"/>
                </a:solidFill>
                <a:latin typeface="Malgun Gothic"/>
              </a:rPr>
              <a:t>조사 행동  ↑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37960" y="4206240"/>
            <a:ext cx="54864" cy="320040"/>
          </a:xfrm>
          <a:prstGeom prst="rect">
            <a:avLst/>
          </a:prstGeom>
          <a:solidFill>
            <a:srgbClr val="3DB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4224528"/>
            <a:ext cx="4389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C7"/>
                </a:solidFill>
                <a:latin typeface="Malgun Gothic"/>
              </a:rPr>
              <a:t>순종적 행동  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37960" y="4663440"/>
            <a:ext cx="54864" cy="32004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20840" y="4681728"/>
            <a:ext cx="4389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C7"/>
                </a:solidFill>
                <a:latin typeface="Malgun Gothic"/>
              </a:rPr>
              <a:t>탈출 시도  ↑↑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37960" y="5120640"/>
            <a:ext cx="54864" cy="320040"/>
          </a:xfrm>
          <a:prstGeom prst="rect">
            <a:avLst/>
          </a:prstGeom>
          <a:solidFill>
            <a:srgbClr val="3DB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20840" y="5138928"/>
            <a:ext cx="4389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C7"/>
                </a:solidFill>
                <a:latin typeface="Malgun Gothic"/>
              </a:rPr>
              <a:t>식사 칭찬  ↓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Malgun Gothic"/>
              </a:rPr>
              <a:t>엔딩 시스템 — 5가지 결말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D700"/>
                </a:solidFill>
                <a:latin typeface="Malgun Gothic"/>
              </a:rPr>
              <a:t>당신의 선택이 운명을 결정한다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3657600" cy="260604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3657600" cy="54864"/>
          </a:xfrm>
          <a:prstGeom prst="rect">
            <a:avLst/>
          </a:prstGeom>
          <a:solidFill>
            <a:srgbClr val="3DB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1731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DBF7A"/>
                </a:solidFill>
                <a:latin typeface="Malgun Gothic"/>
              </a:rPr>
              <a:t>🤫  은밀한 탈출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01952"/>
            <a:ext cx="1371600" cy="292608"/>
          </a:xfrm>
          <a:prstGeom prst="rect">
            <a:avLst/>
          </a:prstGeom>
          <a:solidFill>
            <a:srgbClr val="3DB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0195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9090F"/>
                </a:solidFill>
                <a:latin typeface="Malgun Gothic"/>
              </a:rPr>
              <a:t>✓ VICTORY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04288"/>
            <a:ext cx="3383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C7"/>
                </a:solidFill>
                <a:latin typeface="Malgun Gothic"/>
              </a:rPr>
              <a:t>진정제로 가족 재우기
비밀 열쇠 획득
완벽한 위장 탈출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280160"/>
            <a:ext cx="3657600" cy="260604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280160"/>
            <a:ext cx="3657600" cy="54864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41731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08C00"/>
                </a:solidFill>
                <a:latin typeface="Malgun Gothic"/>
              </a:rPr>
              <a:t>🔥  혼돈의 탈출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1901952"/>
            <a:ext cx="1371600" cy="292608"/>
          </a:xfrm>
          <a:prstGeom prst="rect">
            <a:avLst/>
          </a:prstGeom>
          <a:solidFill>
            <a:srgbClr val="3DB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90195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9090F"/>
                </a:solidFill>
                <a:latin typeface="Malgun Gothic"/>
              </a:rPr>
              <a:t>✓ VICTORY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304288"/>
            <a:ext cx="3383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C7"/>
                </a:solidFill>
                <a:latin typeface="Malgun Gothic"/>
              </a:rPr>
              <a:t>기름 + 라이터로 새엄마에게
불 지르기
화염 속 도주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280160"/>
            <a:ext cx="3657600" cy="260604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280160"/>
            <a:ext cx="3657600" cy="54864"/>
          </a:xfrm>
          <a:prstGeom prst="rect">
            <a:avLst/>
          </a:prstGeom>
          <a:solidFill>
            <a:srgbClr val="2E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141731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CCCC"/>
                </a:solidFill>
                <a:latin typeface="Malgun Gothic"/>
              </a:rPr>
              <a:t>💔  동생의 희생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66760" y="1901952"/>
            <a:ext cx="1371600" cy="292608"/>
          </a:xfrm>
          <a:prstGeom prst="rect">
            <a:avLst/>
          </a:prstGeom>
          <a:solidFill>
            <a:srgbClr val="3DB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190195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9090F"/>
                </a:solidFill>
                <a:latin typeface="Malgun Gothic"/>
              </a:rPr>
              <a:t>✓ VICTORY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304288"/>
            <a:ext cx="3383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C7"/>
                </a:solidFill>
                <a:latin typeface="Malgun Gothic"/>
              </a:rPr>
              <a:t>남동생 루카스의
자기희생으로 탈출
쌍방 신뢰 필요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114800"/>
            <a:ext cx="3657600" cy="260604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4114800"/>
            <a:ext cx="3657600" cy="54864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2519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73E1D"/>
                </a:solidFill>
                <a:latin typeface="Malgun Gothic"/>
              </a:rPr>
              <a:t>🪆  미완성 인형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736592"/>
            <a:ext cx="1371600" cy="292608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73659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9090F"/>
                </a:solidFill>
                <a:latin typeface="Malgun Gothic"/>
              </a:rPr>
              <a:t>✗ FAILURE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138928"/>
            <a:ext cx="3383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C7"/>
                </a:solidFill>
                <a:latin typeface="Malgun Gothic"/>
              </a:rPr>
              <a:t>인간성 0 도달
완전한 인형이 됨
영원히 집에 남음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80" y="4114800"/>
            <a:ext cx="3657600" cy="260604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97680" y="4114800"/>
            <a:ext cx="3657600" cy="5486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34840" y="42519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9B59B6"/>
                </a:solidFill>
                <a:latin typeface="Malgun Gothic"/>
              </a:rPr>
              <a:t>⛓️  포획·감금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34840" y="4736592"/>
            <a:ext cx="1371600" cy="292608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40" y="473659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9090F"/>
                </a:solidFill>
                <a:latin typeface="Malgun Gothic"/>
              </a:rPr>
              <a:t>✗ FAILURE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5138928"/>
            <a:ext cx="3383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C7"/>
                </a:solidFill>
                <a:latin typeface="Malgun Gothic"/>
              </a:rPr>
              <a:t>의심도 100 달성
가족에게 붙잡힘
감금 종료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Malgun Gothic"/>
              </a:rPr>
              <a:t>개발 현황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ECCCC"/>
                </a:solidFill>
                <a:latin typeface="Malgun Gothic"/>
              </a:rPr>
              <a:t>Recent Commits &amp; Architecture Evolution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6858000" cy="521208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6858000" cy="54864"/>
          </a:xfrm>
          <a:prstGeom prst="rect">
            <a:avLst/>
          </a:prstGeom>
          <a:solidFill>
            <a:srgbClr val="2E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ECCCC"/>
                </a:solidFill>
                <a:latin typeface="Malgun Gothic"/>
              </a:rPr>
              <a:t>📋  최근 커밋 히스토리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54864" cy="6400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011680"/>
            <a:ext cx="914400" cy="2560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116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9090F"/>
                </a:solidFill>
                <a:latin typeface="Malgun Gothic"/>
              </a:rPr>
              <a:t>refactor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011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FA6"/>
                </a:solidFill>
                <a:latin typeface="Courier New"/>
              </a:rPr>
              <a:t>eee7735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304288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C7"/>
                </a:solidFill>
                <a:latin typeface="Malgun Gothic"/>
              </a:rPr>
              <a:t>coraline_v3 YAML 스키마 파이프라인 호환성 수정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88920"/>
            <a:ext cx="54864" cy="6400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2880360"/>
            <a:ext cx="914400" cy="2560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8803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9090F"/>
                </a:solidFill>
                <a:latin typeface="Malgun Gothic"/>
              </a:rPr>
              <a:t>refactor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880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FA6"/>
                </a:solidFill>
                <a:latin typeface="Courier New"/>
              </a:rPr>
              <a:t>9f6d788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172968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C7"/>
                </a:solidFill>
                <a:latin typeface="Malgun Gothic"/>
              </a:rPr>
              <a:t>house_on_fire → flags, status_effects → vars 이동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657600"/>
            <a:ext cx="54864" cy="640080"/>
          </a:xfrm>
          <a:prstGeom prst="rect">
            <a:avLst/>
          </a:prstGeom>
          <a:solidFill>
            <a:srgbClr val="2E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3749039"/>
            <a:ext cx="914400" cy="256032"/>
          </a:xfrm>
          <a:prstGeom prst="rect">
            <a:avLst/>
          </a:prstGeom>
          <a:solidFill>
            <a:srgbClr val="2E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749039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9090F"/>
                </a:solidFill>
                <a:latin typeface="Malgun Gothic"/>
              </a:rPr>
              <a:t>refactor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7490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FA6"/>
                </a:solidFill>
                <a:latin typeface="Courier New"/>
              </a:rPr>
              <a:t>6a6cb39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041648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C7"/>
                </a:solidFill>
                <a:latin typeface="Malgun Gothic"/>
              </a:rPr>
              <a:t>StatusEffectManager status 전용 재설계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526279"/>
            <a:ext cx="54864" cy="640080"/>
          </a:xfrm>
          <a:prstGeom prst="rect">
            <a:avLst/>
          </a:prstGeom>
          <a:solidFill>
            <a:srgbClr val="3DB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4617719"/>
            <a:ext cx="914400" cy="256032"/>
          </a:xfrm>
          <a:prstGeom prst="rect">
            <a:avLst/>
          </a:prstGeom>
          <a:solidFill>
            <a:srgbClr val="3DB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617719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9090F"/>
                </a:solidFill>
                <a:latin typeface="Malgun Gothic"/>
              </a:rPr>
              <a:t>feat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461771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FA6"/>
                </a:solidFill>
                <a:latin typeface="Courier New"/>
              </a:rPr>
              <a:t>605cb08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910327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C7"/>
                </a:solidFill>
                <a:latin typeface="Malgun Gothic"/>
              </a:rPr>
              <a:t>StatusEffectManager &amp; ItemAcquirer 서비스에 추가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394960"/>
            <a:ext cx="54864" cy="6400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" y="5486400"/>
            <a:ext cx="914400" cy="256032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48640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9090F"/>
                </a:solidFill>
                <a:latin typeface="Malgun Gothic"/>
              </a:rPr>
              <a:t>merge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74519" y="5486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FA6"/>
                </a:solidFill>
                <a:latin typeface="Courier New"/>
              </a:rPr>
              <a:t>d8136f4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779008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C7"/>
                </a:solidFill>
                <a:latin typeface="Malgun Gothic"/>
              </a:rPr>
              <a:t>dev/raphael 브랜치 병합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89520" y="1280160"/>
            <a:ext cx="4206240" cy="521208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589520" y="1280160"/>
            <a:ext cx="420624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18120" y="141732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D700"/>
                </a:solidFill>
                <a:latin typeface="Malgun Gothic"/>
              </a:rPr>
              <a:t>📊  프로젝트 규모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0" y="1938528"/>
            <a:ext cx="3840480" cy="548640"/>
          </a:xfrm>
          <a:prstGeom prst="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09560" y="197510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D700"/>
                </a:solidFill>
                <a:latin typeface="Malgun Gothic"/>
              </a:rPr>
              <a:t>~5,855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64040" y="204825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C7"/>
                </a:solidFill>
                <a:latin typeface="Malgun Gothic"/>
              </a:rPr>
              <a:t>Python 코드 라인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0" y="2596896"/>
            <a:ext cx="3840480" cy="548640"/>
          </a:xfrm>
          <a:prstGeom prst="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09560" y="263347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D700"/>
                </a:solidFill>
                <a:latin typeface="Malgun Gothic"/>
              </a:rPr>
              <a:t>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64040" y="270662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C7"/>
                </a:solidFill>
                <a:latin typeface="Malgun Gothic"/>
              </a:rPr>
              <a:t>아키텍처 레이어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72400" y="3255264"/>
            <a:ext cx="3840480" cy="548640"/>
          </a:xfrm>
          <a:prstGeom prst="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09560" y="32918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D700"/>
                </a:solidFill>
                <a:latin typeface="Malgun Gothic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64040" y="33649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C7"/>
                </a:solidFill>
                <a:latin typeface="Malgun Gothic"/>
              </a:rPr>
              <a:t>NPC 캐릭터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72400" y="3913632"/>
            <a:ext cx="3840480" cy="548640"/>
          </a:xfrm>
          <a:prstGeom prst="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09560" y="395020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D700"/>
                </a:solidFill>
                <a:latin typeface="Malgun Gothic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64040" y="40233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C7"/>
                </a:solidFill>
                <a:latin typeface="Malgun Gothic"/>
              </a:rPr>
              <a:t>게임 엔딩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0" y="4572000"/>
            <a:ext cx="3840480" cy="548640"/>
          </a:xfrm>
          <a:prstGeom prst="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09560" y="460857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D700"/>
                </a:solidFill>
                <a:latin typeface="Malgun Gothic"/>
              </a:rPr>
              <a:t>12+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64040" y="46817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C7"/>
                </a:solidFill>
                <a:latin typeface="Malgun Gothic"/>
              </a:rPr>
              <a:t>인게임 아이템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72400" y="5230368"/>
            <a:ext cx="3840480" cy="548640"/>
          </a:xfrm>
          <a:prstGeom prst="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909560" y="526694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D700"/>
                </a:solidFill>
                <a:latin typeface="Malgun Gothic"/>
              </a:rPr>
              <a:t>50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64040" y="534009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C7"/>
                </a:solidFill>
                <a:latin typeface="Malgun Gothic"/>
              </a:rPr>
              <a:t>최대 플레이 턴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772400" y="5888736"/>
            <a:ext cx="3840480" cy="548640"/>
          </a:xfrm>
          <a:prstGeom prst="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909560" y="592531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D700"/>
                </a:solidFill>
                <a:latin typeface="Malgun Gothic"/>
              </a:rPr>
              <a:t>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64040" y="599846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C7"/>
                </a:solidFill>
                <a:latin typeface="Malgun Gothic"/>
              </a:rPr>
              <a:t>문서/다이어그램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Malgun Gothic"/>
              </a:rPr>
              <a:t>향후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ECCCC"/>
                </a:solidFill>
                <a:latin typeface="Malgun Gothic"/>
              </a:rPr>
              <a:t>Next Steps for DeusExMachina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486400" cy="242316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486400" cy="54864"/>
          </a:xfrm>
          <a:prstGeom prst="rect">
            <a:avLst/>
          </a:prstGeom>
          <a:solidFill>
            <a:srgbClr val="2E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1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CCCC"/>
                </a:solidFill>
                <a:latin typeface="Malgun Gothic"/>
              </a:rPr>
              <a:t>🎮  새 시나리오 확장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20239"/>
            <a:ext cx="5120640" cy="18288"/>
          </a:xfrm>
          <a:prstGeom prst="rect">
            <a:avLst/>
          </a:prstGeom>
          <a:solidFill>
            <a:srgbClr val="2E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057400"/>
            <a:ext cx="54864" cy="320040"/>
          </a:xfrm>
          <a:prstGeom prst="rect">
            <a:avLst/>
          </a:prstGeom>
          <a:solidFill>
            <a:srgbClr val="2E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3911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AC7"/>
                </a:solidFill>
                <a:latin typeface="Malgun Gothic"/>
              </a:rPr>
              <a:t>YAML DSL 기반 신규 시나리오 제작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32888"/>
            <a:ext cx="54864" cy="320040"/>
          </a:xfrm>
          <a:prstGeom prst="rect">
            <a:avLst/>
          </a:prstGeom>
          <a:solidFill>
            <a:srgbClr val="2E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51460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AC7"/>
                </a:solidFill>
                <a:latin typeface="Malgun Gothic"/>
              </a:rPr>
              <a:t>다양한 장르 (미스터리, SF, 판타지)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008376"/>
            <a:ext cx="54864" cy="320040"/>
          </a:xfrm>
          <a:prstGeom prst="rect">
            <a:avLst/>
          </a:prstGeom>
          <a:solidFill>
            <a:srgbClr val="2E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99008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AC7"/>
                </a:solidFill>
                <a:latin typeface="Malgun Gothic"/>
              </a:rPr>
              <a:t>멀티 플레이어 지원 검토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280160"/>
            <a:ext cx="5486400" cy="242316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280160"/>
            <a:ext cx="5486400" cy="5486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41731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9B59B6"/>
                </a:solidFill>
                <a:latin typeface="Malgun Gothic"/>
              </a:rPr>
              <a:t>🧠  AI 고도화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1920239"/>
            <a:ext cx="5120640" cy="18288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92240" y="2057400"/>
            <a:ext cx="54864" cy="3200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03911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AC7"/>
                </a:solidFill>
                <a:latin typeface="Malgun Gothic"/>
              </a:rPr>
              <a:t>더 정교한 메모리 검색 (임베딩)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2532888"/>
            <a:ext cx="54864" cy="3200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51460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AC7"/>
                </a:solidFill>
                <a:latin typeface="Malgun Gothic"/>
              </a:rPr>
              <a:t>NPC 감정 모델 강화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3008376"/>
            <a:ext cx="54864" cy="3200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299008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AC7"/>
                </a:solidFill>
                <a:latin typeface="Malgun Gothic"/>
              </a:rPr>
              <a:t>장기 계획 개선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931920"/>
            <a:ext cx="5486400" cy="242316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931920"/>
            <a:ext cx="54864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0690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D700"/>
                </a:solidFill>
                <a:latin typeface="Malgun Gothic"/>
              </a:rPr>
              <a:t>⚙️  성능 최적화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572000"/>
            <a:ext cx="5120640" cy="1828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4709159"/>
            <a:ext cx="54864" cy="320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69087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AC7"/>
                </a:solidFill>
                <a:latin typeface="Malgun Gothic"/>
              </a:rPr>
              <a:t>LLM 호출 비용 절감 (캐싱)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184648"/>
            <a:ext cx="54864" cy="320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16636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AC7"/>
                </a:solidFill>
                <a:latin typeface="Malgun Gothic"/>
              </a:rPr>
              <a:t>응답 속도 개선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660136"/>
            <a:ext cx="54864" cy="320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564184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AC7"/>
                </a:solidFill>
                <a:latin typeface="Malgun Gothic"/>
              </a:rPr>
              <a:t>병렬 NPC 처리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3931920"/>
            <a:ext cx="5486400" cy="242316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9360" y="3931920"/>
            <a:ext cx="5486400" cy="54864"/>
          </a:xfrm>
          <a:prstGeom prst="rect">
            <a:avLst/>
          </a:prstGeom>
          <a:solidFill>
            <a:srgbClr val="3DB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40690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DBF7A"/>
                </a:solidFill>
                <a:latin typeface="Malgun Gothic"/>
              </a:rPr>
              <a:t>📱  사용자 경험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92240" y="4572000"/>
            <a:ext cx="5120640" cy="18288"/>
          </a:xfrm>
          <a:prstGeom prst="rect">
            <a:avLst/>
          </a:prstGeom>
          <a:solidFill>
            <a:srgbClr val="3DB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92240" y="4709159"/>
            <a:ext cx="54864" cy="320040"/>
          </a:xfrm>
          <a:prstGeom prst="rect">
            <a:avLst/>
          </a:prstGeom>
          <a:solidFill>
            <a:srgbClr val="3DB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0" y="469087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AC7"/>
                </a:solidFill>
                <a:latin typeface="Malgun Gothic"/>
              </a:rPr>
              <a:t>웹 프론트엔드 구축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2240" y="5184648"/>
            <a:ext cx="54864" cy="320040"/>
          </a:xfrm>
          <a:prstGeom prst="rect">
            <a:avLst/>
          </a:prstGeom>
          <a:solidFill>
            <a:srgbClr val="3DB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75120" y="516636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AC7"/>
                </a:solidFill>
                <a:latin typeface="Malgun Gothic"/>
              </a:rPr>
              <a:t>실시간 상태 시각화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92240" y="5660136"/>
            <a:ext cx="54864" cy="320040"/>
          </a:xfrm>
          <a:prstGeom prst="rect">
            <a:avLst/>
          </a:prstGeom>
          <a:solidFill>
            <a:srgbClr val="3DB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75120" y="564184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AC7"/>
                </a:solidFill>
                <a:latin typeface="Malgun Gothic"/>
              </a:rPr>
              <a:t>저장/불러오기 UI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731752" cy="4572"/>
          </a:xfrm>
          <a:prstGeom prst="rect">
            <a:avLst/>
          </a:prstGeom>
          <a:solidFill>
            <a:srgbClr val="2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737360"/>
            <a:ext cx="11731752" cy="4572"/>
          </a:xfrm>
          <a:prstGeom prst="rect">
            <a:avLst/>
          </a:prstGeom>
          <a:solidFill>
            <a:srgbClr val="2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606039"/>
            <a:ext cx="11731752" cy="4572"/>
          </a:xfrm>
          <a:prstGeom prst="rect">
            <a:avLst/>
          </a:prstGeom>
          <a:solidFill>
            <a:srgbClr val="2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3474720"/>
            <a:ext cx="11731752" cy="4572"/>
          </a:xfrm>
          <a:prstGeom prst="rect">
            <a:avLst/>
          </a:prstGeom>
          <a:solidFill>
            <a:srgbClr val="2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343400"/>
            <a:ext cx="11731752" cy="4572"/>
          </a:xfrm>
          <a:prstGeom prst="rect">
            <a:avLst/>
          </a:prstGeom>
          <a:solidFill>
            <a:srgbClr val="2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5212079"/>
            <a:ext cx="11731752" cy="4572"/>
          </a:xfrm>
          <a:prstGeom prst="rect">
            <a:avLst/>
          </a:prstGeom>
          <a:solidFill>
            <a:srgbClr val="2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6080759"/>
            <a:ext cx="11731752" cy="4572"/>
          </a:xfrm>
          <a:prstGeom prst="rect">
            <a:avLst/>
          </a:prstGeom>
          <a:solidFill>
            <a:srgbClr val="2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Malgun Gothic"/>
              </a:rPr>
              <a:t>모든 선택이 이야기를 만든다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2743200"/>
            <a:ext cx="7616952" cy="36576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9260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C73E1D"/>
                </a:solidFill>
                <a:latin typeface="Malgun Gothic"/>
              </a:rPr>
              <a:t>DeusExMachina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94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E8D5B7"/>
                </a:solidFill>
                <a:latin typeface="Malgun Gothic"/>
              </a:rPr>
              <a:t>AI가 살아 숨쉬는 NPC · 당신만의 이야기 · 50턴의 운명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4572000"/>
            <a:ext cx="7616952" cy="18288"/>
          </a:xfrm>
          <a:prstGeom prst="rect">
            <a:avLst/>
          </a:prstGeom>
          <a:solidFill>
            <a:srgbClr val="7A8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A8FA6"/>
                </a:solidFill>
                <a:latin typeface="Malgun Gothic"/>
              </a:rPr>
              <a:t>FastAPI  ·  OpenAI GPT-4  ·  Generative Agents  ·  PostgreSQL  ·  Redis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7607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A8FA6"/>
                </a:solidFill>
                <a:latin typeface="Malgun Gothic"/>
              </a:rPr>
              <a:t>LIKELION × DeusExMachina Team  ·  2025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274552" y="5943600"/>
            <a:ext cx="9144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60350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1">
                <a:solidFill>
                  <a:srgbClr val="FFD700"/>
                </a:solidFill>
                <a:latin typeface="Malgun Gothic"/>
              </a:rPr>
              <a:t>인형의 집에서 탈출하라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